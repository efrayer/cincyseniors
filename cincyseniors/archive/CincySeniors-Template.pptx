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_CREAM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_INK">
    <p:bg>
      <p:bgPr>
        <a:solidFill>
          <a:srgbClr val="2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_RIVER">
    <p:bg>
      <p:bgPr>
        <a:solidFill>
          <a:srgbClr val="1F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E7D9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12191695" cy="164592"/>
          </a:xfrm>
          <a:prstGeom prst="rect">
            <a:avLst/>
          </a:prstGeom>
          <a:solidFill>
            <a:srgbClr val="2E5C7E"/>
          </a:solidFill>
          <a:ln/>
        </p:spPr>
      </p:sp>
      <p:sp>
        <p:nvSpPr>
          <p:cNvPr id="4" name="Shape 2"/>
          <p:cNvSpPr/>
          <p:nvPr/>
        </p:nvSpPr>
        <p:spPr>
          <a:xfrm>
            <a:off x="243834" y="4338828"/>
            <a:ext cx="731502" cy="553212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7253" y="4167835"/>
            <a:ext cx="975336" cy="724205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94505" y="4037076"/>
            <a:ext cx="853419" cy="854964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169841" y="4208069"/>
            <a:ext cx="731502" cy="683971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23259" y="3936492"/>
            <a:ext cx="975336" cy="955548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120512" y="4288536"/>
            <a:ext cx="731502" cy="603504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73931" y="4107485"/>
            <a:ext cx="853419" cy="784555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49266" y="4338828"/>
            <a:ext cx="609585" cy="553212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80768" y="3986784"/>
            <a:ext cx="1097253" cy="905256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99937" y="4187952"/>
            <a:ext cx="731502" cy="704088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753356" y="4308653"/>
            <a:ext cx="853419" cy="583387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728692" y="4167835"/>
            <a:ext cx="731502" cy="724205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60193" y="4439412"/>
            <a:ext cx="609585" cy="452628"/>
          </a:xfrm>
          <a:prstGeom prst="rect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4971" y="3771900"/>
            <a:ext cx="128016" cy="182880"/>
          </a:xfrm>
          <a:prstGeom prst="triangle">
            <a:avLst/>
          </a:prstGeom>
          <a:solidFill>
            <a:srgbClr val="231914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822960"/>
            <a:ext cx="2011680" cy="384048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822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RESOURCE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60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 Goes Here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short, plain-language subtitle — who this is for and what they will learn.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1520" y="5806440"/>
            <a:ext cx="54864" cy="502920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806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Your Name  ·  Cincinnati, Ohio  ·  Spring 2026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292840" y="502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8322A"/>
          </a:solidFill>
          <a:ln w="19050">
            <a:solidFill>
              <a:srgbClr val="8A281F"/>
            </a:solidFill>
            <a:prstDash val="solid"/>
          </a:ln>
          <a:effectLst>
            <a:outerShdw sx="100000" sy="100000" kx="0" ky="0" algn="bl" rotWithShape="0" blurRad="101600" dist="38100" dir="5400000">
              <a:srgbClr val="231914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2928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229600" y="6217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CincySeniors.org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66928"/>
          </a:xfrm>
          <a:prstGeom prst="rect">
            <a:avLst/>
          </a:prstGeom>
          <a:solidFill>
            <a:srgbClr val="FFFBF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0"/>
            <a:ext cx="12191695" cy="18288"/>
          </a:xfrm>
          <a:prstGeom prst="rect">
            <a:avLst/>
          </a:prstGeom>
          <a:solidFill>
            <a:srgbClr val="23191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560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A8322A"/>
          </a:solidFill>
          <a:ln w="19050">
            <a:solidFill>
              <a:srgbClr val="8A281F"/>
            </a:solidFill>
            <a:prstDash val="solid"/>
          </a:ln>
          <a:effectLst>
            <a:outerShdw sx="100000" sy="100000" kx="0" ky="0" algn="bl" rotWithShape="0" blurRad="101600" dist="38100" dir="5400000">
              <a:srgbClr val="231914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201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CincySeniors.org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38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for Greater Cincinnati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784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CINCYSENIORS.ORG  ·  (513) 555-0123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784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749808"/>
            <a:ext cx="4023360" cy="5971032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CONVERSATION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15087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52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</a:t>
            </a:r>
            <a:endParaRPr lang="en-US" sz="5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2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cover.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7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short sections. Questions welcome throughout.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5440680"/>
            <a:ext cx="548640" cy="18288"/>
          </a:xfrm>
          <a:prstGeom prst="rect">
            <a:avLst/>
          </a:prstGeom>
          <a:solidFill>
            <a:srgbClr val="FFFBF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7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A REAL PERSON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852160"/>
            <a:ext cx="384048" cy="384048"/>
          </a:xfrm>
          <a:prstGeom prst="ellipse">
            <a:avLst/>
          </a:prstGeom>
          <a:solidFill>
            <a:srgbClr val="FFFBF3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5934456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14400" y="5852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(513) 555-0123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7200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A83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5486400" y="112471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AI, really?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486400" y="158191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plain-English version, no jargon.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0" y="2029968"/>
            <a:ext cx="6949440" cy="9144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0" y="21214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A83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5486400" y="21488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people are using it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486400" y="26060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in health, money, and everyday life.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72000" y="3054096"/>
            <a:ext cx="6949440" cy="9144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0" y="31455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A83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31" name="Text 28"/>
          <p:cNvSpPr/>
          <p:nvPr/>
        </p:nvSpPr>
        <p:spPr>
          <a:xfrm>
            <a:off x="5486400" y="31729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watch out for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486400" y="36301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that use AI, and how to stop them.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572000" y="4078224"/>
            <a:ext cx="6949440" cy="9144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0" y="41696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A83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35" name="Text 32"/>
          <p:cNvSpPr/>
          <p:nvPr/>
        </p:nvSpPr>
        <p:spPr>
          <a:xfrm>
            <a:off x="5486400" y="419709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together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5486400" y="465429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hands-on moment — if you'd like.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572000" y="5102352"/>
            <a:ext cx="6949440" cy="9144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0" y="51937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A83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800" dirty="0"/>
          </a:p>
        </p:txBody>
      </p:sp>
      <p:sp>
        <p:nvSpPr>
          <p:cNvPr id="39" name="Text 36"/>
          <p:cNvSpPr/>
          <p:nvPr/>
        </p:nvSpPr>
        <p:spPr>
          <a:xfrm>
            <a:off x="5486400" y="522122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resources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5486400" y="56784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next, and who to call for help.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834" y="6204204"/>
            <a:ext cx="731502" cy="653796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53" y="6002122"/>
            <a:ext cx="975336" cy="855878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94505" y="5847588"/>
            <a:ext cx="853419" cy="1010412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169841" y="6049670"/>
            <a:ext cx="731502" cy="808330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23259" y="5728716"/>
            <a:ext cx="975336" cy="1129284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120512" y="6144768"/>
            <a:ext cx="731502" cy="713232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73931" y="5930798"/>
            <a:ext cx="853419" cy="927202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49266" y="6204204"/>
            <a:ext cx="609585" cy="653796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680768" y="5788152"/>
            <a:ext cx="1097253" cy="1069848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899937" y="6025896"/>
            <a:ext cx="731502" cy="832104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53356" y="6168542"/>
            <a:ext cx="853419" cy="689458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28692" y="6002122"/>
            <a:ext cx="731502" cy="855878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60193" y="6323076"/>
            <a:ext cx="609585" cy="534924"/>
          </a:xfrm>
          <a:prstGeom prst="rect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04971" y="5564124"/>
            <a:ext cx="128016" cy="182880"/>
          </a:xfrm>
          <a:prstGeom prst="triangle">
            <a:avLst/>
          </a:prstGeom>
          <a:solidFill>
            <a:srgbClr val="FFFBF3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C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18288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AI, really?</a:t>
            </a:r>
            <a:endParaRPr lang="en-US" sz="7000" dirty="0"/>
          </a:p>
        </p:txBody>
      </p:sp>
      <p:sp>
        <p:nvSpPr>
          <p:cNvPr id="19" name="Text 17"/>
          <p:cNvSpPr/>
          <p:nvPr/>
        </p:nvSpPr>
        <p:spPr>
          <a:xfrm>
            <a:off x="960120" y="44805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DE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friendly introduction to the tools you've been hearing about — in plain language, with real examples.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1064240" y="502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8322A"/>
          </a:solidFill>
          <a:ln w="19050">
            <a:solidFill>
              <a:srgbClr val="8A281F"/>
            </a:solidFill>
            <a:prstDash val="solid"/>
          </a:ln>
          <a:effectLst>
            <a:outerShdw sx="100000" sy="100000" kx="0" ky="0" algn="bl" rotWithShape="0" blurRad="101600" dist="38100" dir="5400000">
              <a:srgbClr val="231914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0642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66928"/>
          </a:xfrm>
          <a:prstGeom prst="rect">
            <a:avLst/>
          </a:prstGeom>
          <a:solidFill>
            <a:srgbClr val="FFFBF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0"/>
            <a:ext cx="12191695" cy="18288"/>
          </a:xfrm>
          <a:prstGeom prst="rect">
            <a:avLst/>
          </a:prstGeom>
          <a:solidFill>
            <a:srgbClr val="23191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560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A8322A"/>
          </a:solidFill>
          <a:ln w="19050">
            <a:solidFill>
              <a:srgbClr val="8A281F"/>
            </a:solidFill>
            <a:prstDash val="solid"/>
          </a:ln>
          <a:effectLst>
            <a:outerShdw sx="100000" sy="100000" kx="0" ky="0" algn="bl" rotWithShape="0" blurRad="101600" dist="38100" dir="5400000">
              <a:srgbClr val="231914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201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CincySeniors.org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38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for Greater Cincinnati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LAYOUT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784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CINCYSENIORS.ORG  ·  (513) 555-0123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784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051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VISUAL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3258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 in a warm serif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layout when you want a supporting idea on the left and a visual — photo, chart, or illustration — on the right. Keep body copy short: two or three sentences at most.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10896" cy="310896"/>
          </a:xfrm>
          <a:prstGeom prst="ellipse">
            <a:avLst/>
          </a:prstGeom>
          <a:solidFill>
            <a:srgbClr val="A8322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178808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40965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Left-align your paragraphs and lists.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617720"/>
            <a:ext cx="310896" cy="310896"/>
          </a:xfrm>
          <a:prstGeom prst="ellipse">
            <a:avLst/>
          </a:prstGeom>
          <a:solidFill>
            <a:srgbClr val="A8322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681728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60120" y="45994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idea per slide — avoid crowding.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48640" y="5120640"/>
            <a:ext cx="310896" cy="310896"/>
          </a:xfrm>
          <a:prstGeom prst="ellipse">
            <a:avLst/>
          </a:prstGeom>
          <a:solidFill>
            <a:srgbClr val="A8322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5184648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120" y="51023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italic serif for warm, human accents.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675120" y="1051560"/>
            <a:ext cx="4937760" cy="4754880"/>
          </a:xfrm>
          <a:prstGeom prst="rect">
            <a:avLst/>
          </a:prstGeom>
          <a:solidFill>
            <a:srgbClr val="FFFBF3"/>
          </a:solidFill>
          <a:ln w="38100">
            <a:solidFill>
              <a:srgbClr val="231914"/>
            </a:solidFill>
            <a:prstDash val="solid"/>
          </a:ln>
          <a:effectLst>
            <a:outerShdw sx="100000" sy="100000" kx="0" ky="0" algn="bl" rotWithShape="0" blurRad="127000" dist="38100" dir="5400000">
              <a:srgbClr val="231914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675120" y="1051560"/>
            <a:ext cx="4937760" cy="2743200"/>
          </a:xfrm>
          <a:prstGeom prst="rect">
            <a:avLst/>
          </a:prstGeom>
          <a:solidFill>
            <a:srgbClr val="E7D9C0"/>
          </a:solidFill>
          <a:ln/>
        </p:spPr>
      </p:sp>
      <p:sp>
        <p:nvSpPr>
          <p:cNvPr id="27" name="Shape 22"/>
          <p:cNvSpPr/>
          <p:nvPr/>
        </p:nvSpPr>
        <p:spPr>
          <a:xfrm>
            <a:off x="6773875" y="3266694"/>
            <a:ext cx="296266" cy="528066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7119518" y="3103474"/>
            <a:ext cx="395021" cy="691286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7563917" y="2978658"/>
            <a:ext cx="345643" cy="816102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7958938" y="3141878"/>
            <a:ext cx="296266" cy="652882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31" name="Shape 26"/>
          <p:cNvSpPr/>
          <p:nvPr/>
        </p:nvSpPr>
        <p:spPr>
          <a:xfrm>
            <a:off x="8304581" y="2882646"/>
            <a:ext cx="395021" cy="912114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8748979" y="3218688"/>
            <a:ext cx="296266" cy="576072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9094622" y="3045866"/>
            <a:ext cx="345643" cy="748894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9489643" y="3266694"/>
            <a:ext cx="246888" cy="528066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35" name="Shape 30"/>
          <p:cNvSpPr/>
          <p:nvPr/>
        </p:nvSpPr>
        <p:spPr>
          <a:xfrm>
            <a:off x="9785909" y="2930652"/>
            <a:ext cx="444398" cy="864108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36" name="Shape 31"/>
          <p:cNvSpPr/>
          <p:nvPr/>
        </p:nvSpPr>
        <p:spPr>
          <a:xfrm>
            <a:off x="10279685" y="3122676"/>
            <a:ext cx="296266" cy="672084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37" name="Shape 32"/>
          <p:cNvSpPr/>
          <p:nvPr/>
        </p:nvSpPr>
        <p:spPr>
          <a:xfrm>
            <a:off x="10625328" y="3237890"/>
            <a:ext cx="345643" cy="556870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38" name="Shape 33"/>
          <p:cNvSpPr/>
          <p:nvPr/>
        </p:nvSpPr>
        <p:spPr>
          <a:xfrm>
            <a:off x="11020349" y="3103474"/>
            <a:ext cx="296266" cy="691286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39" name="Shape 34"/>
          <p:cNvSpPr/>
          <p:nvPr/>
        </p:nvSpPr>
        <p:spPr>
          <a:xfrm>
            <a:off x="11316614" y="3362706"/>
            <a:ext cx="246888" cy="432054"/>
          </a:xfrm>
          <a:prstGeom prst="rect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8286293" y="2718054"/>
            <a:ext cx="128016" cy="182880"/>
          </a:xfrm>
          <a:prstGeom prst="triangle">
            <a:avLst/>
          </a:prstGeom>
          <a:solidFill>
            <a:srgbClr val="231914">
              <a:alpha val="45000"/>
            </a:srgbClr>
          </a:solidFill>
          <a:ln/>
        </p:spPr>
      </p:sp>
      <p:sp>
        <p:nvSpPr>
          <p:cNvPr id="41" name="Shape 36"/>
          <p:cNvSpPr/>
          <p:nvPr/>
        </p:nvSpPr>
        <p:spPr>
          <a:xfrm>
            <a:off x="6675120" y="3794760"/>
            <a:ext cx="4937760" cy="137160"/>
          </a:xfrm>
          <a:prstGeom prst="rect">
            <a:avLst/>
          </a:prstGeom>
          <a:solidFill>
            <a:srgbClr val="2E5C7E"/>
          </a:solidFill>
          <a:ln/>
        </p:spPr>
      </p:sp>
      <p:sp>
        <p:nvSpPr>
          <p:cNvPr id="42" name="Text 37"/>
          <p:cNvSpPr/>
          <p:nvPr/>
        </p:nvSpPr>
        <p:spPr>
          <a:xfrm>
            <a:off x="68580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PHOTO OR ILLUSTRATION ]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6858000" y="45720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caption in italic serif adds warmth and context — who, when, or where the image was taken.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66928"/>
          </a:xfrm>
          <a:prstGeom prst="rect">
            <a:avLst/>
          </a:prstGeom>
          <a:solidFill>
            <a:srgbClr val="FFFBF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0"/>
            <a:ext cx="12191695" cy="18288"/>
          </a:xfrm>
          <a:prstGeom prst="rect">
            <a:avLst/>
          </a:prstGeom>
          <a:solidFill>
            <a:srgbClr val="23191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560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A8322A"/>
          </a:solidFill>
          <a:ln w="19050">
            <a:solidFill>
              <a:srgbClr val="8A281F"/>
            </a:solidFill>
            <a:prstDash val="solid"/>
          </a:ln>
          <a:effectLst>
            <a:outerShdw sx="100000" sy="100000" kx="0" ky="0" algn="bl" rotWithShape="0" blurRad="101600" dist="38100" dir="5400000">
              <a:srgbClr val="231914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201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CincySeniors.org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38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for Greater Cincinnati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THREE-CARD LAYOUT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784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CINCYSENIORS.ORG  ·  (513) 555-0123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784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0058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STARTING POINT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you like help with today?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3611880" cy="4023360"/>
          </a:xfrm>
          <a:prstGeom prst="rect">
            <a:avLst/>
          </a:prstGeom>
          <a:solidFill>
            <a:srgbClr val="FFFBF3"/>
          </a:solidFill>
          <a:ln w="25400">
            <a:solidFill>
              <a:srgbClr val="231914"/>
            </a:solidFill>
            <a:prstDash val="solid"/>
          </a:ln>
          <a:effectLst>
            <a:outerShdw sx="100000" sy="100000" kx="0" ky="0" algn="bl" rotWithShape="0" blurRad="127000" dist="38100" dir="5400000">
              <a:srgbClr val="231914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331720"/>
            <a:ext cx="3611880" cy="1005840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587752"/>
            <a:ext cx="530352" cy="530352"/>
          </a:xfrm>
          <a:prstGeom prst="ellipse">
            <a:avLst/>
          </a:prstGeom>
          <a:solidFill>
            <a:srgbClr val="FFFBF3"/>
          </a:solidFill>
          <a:ln w="25400">
            <a:solidFill>
              <a:srgbClr val="A8322A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697480"/>
            <a:ext cx="310896" cy="31089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6304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a Medicare letter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22960" y="4617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complicated paperwork out loud — and get a plain-English explanation in seconds.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960" y="5852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walkthrough  →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343400" y="2331720"/>
            <a:ext cx="3611880" cy="4023360"/>
          </a:xfrm>
          <a:prstGeom prst="rect">
            <a:avLst/>
          </a:prstGeom>
          <a:solidFill>
            <a:srgbClr val="FFFBF3"/>
          </a:solidFill>
          <a:ln w="25400">
            <a:solidFill>
              <a:srgbClr val="231914"/>
            </a:solidFill>
            <a:prstDash val="solid"/>
          </a:ln>
          <a:effectLst>
            <a:outerShdw sx="100000" sy="100000" kx="0" ky="0" algn="bl" rotWithShape="0" blurRad="127000" dist="38100" dir="5400000">
              <a:srgbClr val="231914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43400" y="2331720"/>
            <a:ext cx="3611880" cy="1005840"/>
          </a:xfrm>
          <a:prstGeom prst="rect">
            <a:avLst/>
          </a:prstGeom>
          <a:solidFill>
            <a:srgbClr val="2E5C7E"/>
          </a:solidFill>
          <a:ln/>
        </p:spPr>
      </p:sp>
      <p:sp>
        <p:nvSpPr>
          <p:cNvPr id="25" name="Shape 22"/>
          <p:cNvSpPr/>
          <p:nvPr/>
        </p:nvSpPr>
        <p:spPr>
          <a:xfrm>
            <a:off x="4617720" y="2587752"/>
            <a:ext cx="530352" cy="530352"/>
          </a:xfrm>
          <a:prstGeom prst="ellipse">
            <a:avLst/>
          </a:prstGeom>
          <a:solidFill>
            <a:srgbClr val="FFFBF3"/>
          </a:solidFill>
          <a:ln w="25400">
            <a:solidFill>
              <a:srgbClr val="2E5C7E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697480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5780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61772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a scam call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4617720" y="4617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three things every scammer needs — and practice polite ways to end the call.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4617720" y="5852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walkthrough  →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138160" y="2331720"/>
            <a:ext cx="3611880" cy="4023360"/>
          </a:xfrm>
          <a:prstGeom prst="rect">
            <a:avLst/>
          </a:prstGeom>
          <a:solidFill>
            <a:srgbClr val="FFFBF3"/>
          </a:solidFill>
          <a:ln w="25400">
            <a:solidFill>
              <a:srgbClr val="231914"/>
            </a:solidFill>
            <a:prstDash val="solid"/>
          </a:ln>
          <a:effectLst>
            <a:outerShdw sx="100000" sy="100000" kx="0" ky="0" algn="bl" rotWithShape="0" blurRad="127000" dist="38100" dir="5400000">
              <a:srgbClr val="231914">
                <a:alpha val="1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138160" y="2331720"/>
            <a:ext cx="3611880" cy="1005840"/>
          </a:xfrm>
          <a:prstGeom prst="rect">
            <a:avLst/>
          </a:prstGeom>
          <a:solidFill>
            <a:srgbClr val="231914"/>
          </a:solidFill>
          <a:ln/>
        </p:spPr>
      </p:sp>
      <p:sp>
        <p:nvSpPr>
          <p:cNvPr id="33" name="Shape 29"/>
          <p:cNvSpPr/>
          <p:nvPr/>
        </p:nvSpPr>
        <p:spPr>
          <a:xfrm>
            <a:off x="8412480" y="2587752"/>
            <a:ext cx="530352" cy="530352"/>
          </a:xfrm>
          <a:prstGeom prst="ellipse">
            <a:avLst/>
          </a:prstGeom>
          <a:solidFill>
            <a:srgbClr val="FFFBF3"/>
          </a:solidFill>
          <a:ln w="25400">
            <a:solidFill>
              <a:srgbClr val="231914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697480"/>
            <a:ext cx="310896" cy="31089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05256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841248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birthday note</a:t>
            </a:r>
            <a:endParaRPr lang="en-US" sz="2200" dirty="0"/>
          </a:p>
        </p:txBody>
      </p:sp>
      <p:sp>
        <p:nvSpPr>
          <p:cNvPr id="37" name="Text 32"/>
          <p:cNvSpPr/>
          <p:nvPr/>
        </p:nvSpPr>
        <p:spPr>
          <a:xfrm>
            <a:off x="8412480" y="4617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what you really want to say — in your voice, not a template's.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8412480" y="5852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walkthrough  →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66928"/>
          </a:xfrm>
          <a:prstGeom prst="rect">
            <a:avLst/>
          </a:prstGeom>
          <a:solidFill>
            <a:srgbClr val="FFFBF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0"/>
            <a:ext cx="12191695" cy="18288"/>
          </a:xfrm>
          <a:prstGeom prst="rect">
            <a:avLst/>
          </a:prstGeom>
          <a:solidFill>
            <a:srgbClr val="23191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560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A8322A"/>
          </a:solidFill>
          <a:ln w="19050">
            <a:solidFill>
              <a:srgbClr val="8A281F"/>
            </a:solidFill>
            <a:prstDash val="solid"/>
          </a:ln>
          <a:effectLst>
            <a:outerShdw sx="100000" sy="100000" kx="0" ky="0" algn="bl" rotWithShape="0" blurRad="101600" dist="38100" dir="5400000">
              <a:srgbClr val="231914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201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CincySeniors.org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38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for Greater Cincinnati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CALLOUT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784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CINCYSENIORS.ORG  ·  (513) 555-0123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784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749808"/>
            <a:ext cx="4754880" cy="5971032"/>
          </a:xfrm>
          <a:prstGeom prst="rect">
            <a:avLst/>
          </a:prstGeom>
          <a:solidFill>
            <a:srgbClr val="E7D9C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MATTERS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50876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Scam calls targeting older adults rose sharply last year.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cloning makes it cheaper than ever to spoof a familiar voice. The good news: the defenses are still the same old ones your grandmother used.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Source: Federal Trade Commission, Consumer Sentinel (illustrative).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37160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A83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3.4×</a:t>
            </a:r>
            <a:endParaRPr lang="en-US" sz="15000" dirty="0"/>
          </a:p>
        </p:txBody>
      </p:sp>
      <p:sp>
        <p:nvSpPr>
          <p:cNvPr id="19" name="Shape 17"/>
          <p:cNvSpPr/>
          <p:nvPr/>
        </p:nvSpPr>
        <p:spPr>
          <a:xfrm>
            <a:off x="5029200" y="4160520"/>
            <a:ext cx="1280160" cy="54864"/>
          </a:xfrm>
          <a:prstGeom prst="rect">
            <a:avLst/>
          </a:prstGeom>
          <a:solidFill>
            <a:srgbClr val="23191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42976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reports of imposter scams in 2024 than in 2020.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0" y="5440680"/>
            <a:ext cx="54864" cy="868680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5394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212080" y="5897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an unsolicited call or text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5440680"/>
            <a:ext cx="54864" cy="868680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5394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$1.7B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498080" y="5897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losses to imposter scams, 2024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01200" y="5440680"/>
            <a:ext cx="54864" cy="868680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5394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784080" y="5897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adults say they've received one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66928"/>
          </a:xfrm>
          <a:prstGeom prst="rect">
            <a:avLst/>
          </a:prstGeom>
          <a:solidFill>
            <a:srgbClr val="FFFBF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0"/>
            <a:ext cx="12191695" cy="18288"/>
          </a:xfrm>
          <a:prstGeom prst="rect">
            <a:avLst/>
          </a:prstGeom>
          <a:solidFill>
            <a:srgbClr val="23191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560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A8322A"/>
          </a:solidFill>
          <a:ln w="19050">
            <a:solidFill>
              <a:srgbClr val="8A281F"/>
            </a:solidFill>
            <a:prstDash val="solid"/>
          </a:ln>
          <a:effectLst>
            <a:outerShdw sx="100000" sy="100000" kx="0" ky="0" algn="bl" rotWithShape="0" blurRad="101600" dist="38100" dir="5400000">
              <a:srgbClr val="231914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201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CincySeniors.org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38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for Greater Cincinnati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BULLETED CONTENT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784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CINCYSENIORS.ORG  ·  (513) 555-0123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784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051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325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habits that make AI safer to use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640080" cy="640080"/>
          </a:xfrm>
          <a:prstGeom prst="ellipse">
            <a:avLst/>
          </a:prstGeom>
          <a:solidFill>
            <a:srgbClr val="A8322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2651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down before you click.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71600" y="31089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Scammers rely on urgency. Take a breath, read the message twice, and ask a friend if anything feels off.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640080" cy="640080"/>
          </a:xfrm>
          <a:prstGeom prst="ellipse">
            <a:avLst/>
          </a:prstGeom>
          <a:solidFill>
            <a:srgbClr val="A8322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3886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helper to read for you.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71600" y="43434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confusing text in and ask for a plain-English summary. Never paste real account numbers or passwords.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640080" cy="640080"/>
          </a:xfrm>
          <a:prstGeom prst="ellipse">
            <a:avLst/>
          </a:prstGeom>
          <a:solidFill>
            <a:srgbClr val="A8322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371600" y="5120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back using a number you trust.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371600" y="55778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message claims to be from your bank or Medicare, hang up and call the number printed on your card or statement.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55280" y="2651760"/>
            <a:ext cx="3749040" cy="3566160"/>
          </a:xfrm>
          <a:prstGeom prst="rect">
            <a:avLst/>
          </a:prstGeom>
          <a:solidFill>
            <a:srgbClr val="E7D9C0"/>
          </a:solidFill>
          <a:ln w="25400">
            <a:solidFill>
              <a:srgbClr val="2319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2651760"/>
            <a:ext cx="3749040" cy="73152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29" name="Shape 27"/>
          <p:cNvSpPr/>
          <p:nvPr/>
        </p:nvSpPr>
        <p:spPr>
          <a:xfrm>
            <a:off x="8092440" y="2834640"/>
            <a:ext cx="502920" cy="502920"/>
          </a:xfrm>
          <a:prstGeom prst="ellipse">
            <a:avLst/>
          </a:prstGeom>
          <a:solidFill>
            <a:srgbClr val="A8322A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953512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68680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138160" y="3429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always allowed to hang up.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8138160" y="443484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real bank, no real doctor, and no real government agency will be upset that you hung up to call them back through a number you trust.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66928"/>
          </a:xfrm>
          <a:prstGeom prst="rect">
            <a:avLst/>
          </a:prstGeom>
          <a:solidFill>
            <a:srgbClr val="FFFBF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0"/>
            <a:ext cx="12191695" cy="18288"/>
          </a:xfrm>
          <a:prstGeom prst="rect">
            <a:avLst/>
          </a:prstGeom>
          <a:solidFill>
            <a:srgbClr val="23191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560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A8322A"/>
          </a:solidFill>
          <a:ln w="19050">
            <a:solidFill>
              <a:srgbClr val="8A281F"/>
            </a:solidFill>
            <a:prstDash val="solid"/>
          </a:ln>
          <a:effectLst>
            <a:outerShdw sx="100000" sy="100000" kx="0" ky="0" algn="bl" rotWithShape="0" blurRad="101600" dist="38100" dir="5400000">
              <a:srgbClr val="231914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201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CincySeniors.org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38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for Greater Cincinnati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SPOTLIGHT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784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CINCYSENIORS.ORG  ·  (513) 555-0123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784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051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SPOTLIGHT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325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scam, one tip, one idea — chosen by a human.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3611880" cy="4023360"/>
          </a:xfrm>
          <a:prstGeom prst="rect">
            <a:avLst/>
          </a:prstGeom>
          <a:solidFill>
            <a:srgbClr val="FFFBF3"/>
          </a:solidFill>
          <a:ln w="25400">
            <a:solidFill>
              <a:srgbClr val="231914"/>
            </a:solidFill>
            <a:prstDash val="solid"/>
          </a:ln>
          <a:effectLst>
            <a:outerShdw sx="100000" sy="100000" kx="0" ky="0" algn="bl" rotWithShape="0" blurRad="127000" dist="38100" dir="5400000">
              <a:srgbClr val="231914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2697480"/>
            <a:ext cx="1737360" cy="320040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TO WATCH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651760"/>
            <a:ext cx="411480" cy="411480"/>
          </a:xfrm>
          <a:prstGeom prst="ellipse">
            <a:avLst/>
          </a:prstGeom>
          <a:solidFill>
            <a:srgbClr val="A8322A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4448" y="2761488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22960" y="32461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"Grandma, it's me" calls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22960" y="4297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caller who sounds exactly like your grandchild asks for money urgently. Hang up and call them back directly.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2960" y="5440680"/>
            <a:ext cx="3063240" cy="9144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5623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8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picked this: two Cincinnati residents reported it to us this week.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43400" y="2377440"/>
            <a:ext cx="3611880" cy="4023360"/>
          </a:xfrm>
          <a:prstGeom prst="rect">
            <a:avLst/>
          </a:prstGeom>
          <a:solidFill>
            <a:srgbClr val="FFFBF3"/>
          </a:solidFill>
          <a:ln w="25400">
            <a:solidFill>
              <a:srgbClr val="231914"/>
            </a:solidFill>
            <a:prstDash val="solid"/>
          </a:ln>
          <a:effectLst>
            <a:outerShdw sx="100000" sy="100000" kx="0" ky="0" algn="bl" rotWithShape="0" blurRad="127000" dist="38100" dir="5400000">
              <a:srgbClr val="231914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17720" y="2697480"/>
            <a:ext cx="1737360" cy="320040"/>
          </a:xfrm>
          <a:prstGeom prst="rect">
            <a:avLst/>
          </a:prstGeom>
          <a:solidFill>
            <a:srgbClr val="2E5C7E"/>
          </a:solidFill>
          <a:ln/>
        </p:spPr>
      </p:sp>
      <p:sp>
        <p:nvSpPr>
          <p:cNvPr id="26" name="Text 23"/>
          <p:cNvSpPr/>
          <p:nvPr/>
        </p:nvSpPr>
        <p:spPr>
          <a:xfrm>
            <a:off x="4617720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TIP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269480" y="2651760"/>
            <a:ext cx="411480" cy="411480"/>
          </a:xfrm>
          <a:prstGeom prst="ellipse">
            <a:avLst/>
          </a:prstGeom>
          <a:solidFill>
            <a:srgbClr val="2E5C7E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761488"/>
            <a:ext cx="201168" cy="20116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617720" y="32461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type real names in AI chats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4617720" y="4297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"my daughter" or "my neighbor" when asking about family. Advice stays useful; their privacy stays yours.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617720" y="5440680"/>
            <a:ext cx="3063240" cy="9144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32" name="Text 28"/>
          <p:cNvSpPr/>
          <p:nvPr/>
        </p:nvSpPr>
        <p:spPr>
          <a:xfrm>
            <a:off x="4617720" y="5623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8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picked this: a common question at our in-person classes.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8138160" y="2377440"/>
            <a:ext cx="3611880" cy="4023360"/>
          </a:xfrm>
          <a:prstGeom prst="rect">
            <a:avLst/>
          </a:prstGeom>
          <a:solidFill>
            <a:srgbClr val="FFFBF3"/>
          </a:solidFill>
          <a:ln w="25400">
            <a:solidFill>
              <a:srgbClr val="231914"/>
            </a:solidFill>
            <a:prstDash val="solid"/>
          </a:ln>
          <a:effectLst>
            <a:outerShdw sx="100000" sy="100000" kx="0" ky="0" algn="bl" rotWithShape="0" blurRad="127000" dist="38100" dir="5400000">
              <a:srgbClr val="231914">
                <a:alpha val="1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412480" y="2697480"/>
            <a:ext cx="1737360" cy="320040"/>
          </a:xfrm>
          <a:prstGeom prst="rect">
            <a:avLst/>
          </a:prstGeom>
          <a:solidFill>
            <a:srgbClr val="231914"/>
          </a:solidFill>
          <a:ln/>
        </p:spPr>
      </p:sp>
      <p:sp>
        <p:nvSpPr>
          <p:cNvPr id="35" name="Text 31"/>
          <p:cNvSpPr/>
          <p:nvPr/>
        </p:nvSpPr>
        <p:spPr>
          <a:xfrm>
            <a:off x="8412480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IDEA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11064240" y="2651760"/>
            <a:ext cx="411480" cy="411480"/>
          </a:xfrm>
          <a:prstGeom prst="ellipse">
            <a:avLst/>
          </a:prstGeom>
          <a:solidFill>
            <a:srgbClr val="231914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968" y="2761488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412480" y="32461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Ask: "Write 3 questions for my doctor"</a:t>
            </a:r>
            <a:endParaRPr lang="en-US" sz="2000" dirty="0"/>
          </a:p>
        </p:txBody>
      </p:sp>
      <p:sp>
        <p:nvSpPr>
          <p:cNvPr id="39" name="Text 34"/>
          <p:cNvSpPr/>
          <p:nvPr/>
        </p:nvSpPr>
        <p:spPr>
          <a:xfrm>
            <a:off x="8412480" y="4297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 appointment, turn your worries into clear, specific questions. Bring them on paper.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8412480" y="5440680"/>
            <a:ext cx="3063240" cy="9144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41" name="Text 36"/>
          <p:cNvSpPr/>
          <p:nvPr/>
        </p:nvSpPr>
        <p:spPr>
          <a:xfrm>
            <a:off x="8412480" y="5623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8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picked this: a Hyde Park reader said it changed her last visit.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3" name="Shape 1"/>
          <p:cNvSpPr/>
          <p:nvPr/>
        </p:nvSpPr>
        <p:spPr>
          <a:xfrm>
            <a:off x="243834" y="6581394"/>
            <a:ext cx="731502" cy="276606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53" y="6495898"/>
            <a:ext cx="975336" cy="362102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94505" y="6430518"/>
            <a:ext cx="853419" cy="427482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169841" y="6516014"/>
            <a:ext cx="731502" cy="341986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23259" y="6380226"/>
            <a:ext cx="975336" cy="477774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120512" y="6556248"/>
            <a:ext cx="731502" cy="301752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73931" y="6465722"/>
            <a:ext cx="853419" cy="392278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266" y="6581394"/>
            <a:ext cx="609585" cy="276606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80768" y="6405372"/>
            <a:ext cx="1097253" cy="452628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99937" y="6505956"/>
            <a:ext cx="731502" cy="352044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53356" y="6566306"/>
            <a:ext cx="853419" cy="291694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728692" y="6495898"/>
            <a:ext cx="731502" cy="362102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60193" y="6631686"/>
            <a:ext cx="609585" cy="226314"/>
          </a:xfrm>
          <a:prstGeom prst="rect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004971" y="6215634"/>
            <a:ext cx="128016" cy="182880"/>
          </a:xfrm>
          <a:prstGeom prst="triangle">
            <a:avLst/>
          </a:prstGeom>
          <a:solidFill>
            <a:srgbClr val="FFFBF3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0" b="1" dirty="0">
                <a:solidFill>
                  <a:srgbClr val="A83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0" dirty="0"/>
          </a:p>
        </p:txBody>
      </p:sp>
      <p:sp>
        <p:nvSpPr>
          <p:cNvPr id="18" name="Text 16"/>
          <p:cNvSpPr/>
          <p:nvPr/>
        </p:nvSpPr>
        <p:spPr>
          <a:xfrm>
            <a:off x="320040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C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NEIGHBORS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1554480"/>
            <a:ext cx="8412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used to avoid anything called “AI.” Then someone at the library sat with me for twenty minutes. Now I write to my grandkids in Dayton every Sunday.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3200400" y="5029200"/>
            <a:ext cx="822960" cy="822960"/>
          </a:xfrm>
          <a:prstGeom prst="ellipse">
            <a:avLst/>
          </a:prstGeom>
          <a:solidFill>
            <a:srgbClr val="E7D9C0"/>
          </a:solidFill>
          <a:ln w="38100">
            <a:solidFill>
              <a:srgbClr val="FFFB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5029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20624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Maureen, 74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206240" y="5413248"/>
            <a:ext cx="228600" cy="18288"/>
          </a:xfrm>
          <a:prstGeom prst="rect">
            <a:avLst/>
          </a:prstGeom>
          <a:solidFill>
            <a:srgbClr val="9CC0D6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54681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6CF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Pleasant Ridge  ·  Class of April 2026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155680" y="411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8322A"/>
          </a:solidFill>
          <a:ln w="19050">
            <a:solidFill>
              <a:srgbClr val="8A281F"/>
            </a:solidFill>
            <a:prstDash val="solid"/>
          </a:ln>
          <a:effectLst>
            <a:outerShdw sx="100000" sy="100000" kx="0" ky="0" algn="bl" rotWithShape="0" blurRad="101600" dist="38100" dir="5400000">
              <a:srgbClr val="231914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15568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3" name="Shape 1"/>
          <p:cNvSpPr/>
          <p:nvPr/>
        </p:nvSpPr>
        <p:spPr>
          <a:xfrm>
            <a:off x="243834" y="571500"/>
            <a:ext cx="731502" cy="452628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53" y="431597"/>
            <a:ext cx="975336" cy="592531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94505" y="324612"/>
            <a:ext cx="853419" cy="699516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169841" y="464515"/>
            <a:ext cx="731502" cy="559613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23259" y="242316"/>
            <a:ext cx="975336" cy="781812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120512" y="530352"/>
            <a:ext cx="731502" cy="493776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73931" y="382219"/>
            <a:ext cx="853419" cy="641909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266" y="571500"/>
            <a:ext cx="609585" cy="452628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80768" y="283464"/>
            <a:ext cx="1097253" cy="740664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99937" y="448056"/>
            <a:ext cx="731502" cy="576072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53356" y="546811"/>
            <a:ext cx="853419" cy="477317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728692" y="431597"/>
            <a:ext cx="731502" cy="592531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60193" y="653796"/>
            <a:ext cx="609585" cy="370332"/>
          </a:xfrm>
          <a:prstGeom prst="rect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004971" y="77724"/>
            <a:ext cx="128016" cy="182880"/>
          </a:xfrm>
          <a:prstGeom prst="triangle">
            <a:avLst/>
          </a:prstGeom>
          <a:solidFill>
            <a:srgbClr val="E7D9C0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1234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7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150876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52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ideas, or a</a:t>
            </a:r>
            <a:endParaRPr lang="en-US" sz="5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2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for our helper?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E7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not a tech company. We don't sell your data. We don't run ads.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4800600"/>
            <a:ext cx="3520440" cy="1371600"/>
          </a:xfrm>
          <a:prstGeom prst="rect">
            <a:avLst/>
          </a:prstGeom>
          <a:solidFill>
            <a:srgbClr val="2F2219"/>
          </a:solidFill>
          <a:ln w="12700">
            <a:solidFill>
              <a:srgbClr val="A832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5047488"/>
            <a:ext cx="475488" cy="475488"/>
          </a:xfrm>
          <a:prstGeom prst="ellipse">
            <a:avLst/>
          </a:prstGeom>
          <a:solidFill>
            <a:srgbClr val="A8322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5157216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72768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7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A REAL PERSON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572768" y="5349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(513) 555-0123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480560" y="4800600"/>
            <a:ext cx="3520440" cy="1371600"/>
          </a:xfrm>
          <a:prstGeom prst="rect">
            <a:avLst/>
          </a:prstGeom>
          <a:solidFill>
            <a:srgbClr val="2F2219"/>
          </a:solidFill>
          <a:ln w="12700">
            <a:solidFill>
              <a:srgbClr val="A8322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81728" y="5047488"/>
            <a:ext cx="475488" cy="475488"/>
          </a:xfrm>
          <a:prstGeom prst="ellipse">
            <a:avLst/>
          </a:prstGeom>
          <a:solidFill>
            <a:srgbClr val="A8322A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5157216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21808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7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OUR HELPER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321808" y="5349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cincyseniors.org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8229600" y="4800600"/>
            <a:ext cx="3520440" cy="1371600"/>
          </a:xfrm>
          <a:prstGeom prst="rect">
            <a:avLst/>
          </a:prstGeom>
          <a:solidFill>
            <a:srgbClr val="2F2219"/>
          </a:solidFill>
          <a:ln w="12700">
            <a:solidFill>
              <a:srgbClr val="A8322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430768" y="5047488"/>
            <a:ext cx="475488" cy="475488"/>
          </a:xfrm>
          <a:prstGeom prst="ellipse">
            <a:avLst/>
          </a:prstGeom>
          <a:solidFill>
            <a:srgbClr val="A8322A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5157216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070848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7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9070848" y="5349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info@cincyseniors.org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731520" y="63550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A8322A"/>
          </a:solidFill>
          <a:ln w="19050">
            <a:solidFill>
              <a:srgbClr val="8A281F"/>
            </a:solidFill>
            <a:prstDash val="solid"/>
          </a:ln>
          <a:effectLst>
            <a:outerShdw sx="100000" sy="100000" kx="0" ky="0" algn="bl" rotWithShape="0" blurRad="101600" dist="38100" dir="5400000">
              <a:srgbClr val="231914">
                <a:alpha val="100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731520" y="6355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37" name="Text 32"/>
          <p:cNvSpPr/>
          <p:nvPr/>
        </p:nvSpPr>
        <p:spPr>
          <a:xfrm>
            <a:off x="118872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CincySeniors.org  ·  Serving Greater Cincinnati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66928"/>
          </a:xfrm>
          <a:prstGeom prst="rect">
            <a:avLst/>
          </a:prstGeom>
          <a:solidFill>
            <a:srgbClr val="FFFBF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0"/>
            <a:ext cx="12191695" cy="18288"/>
          </a:xfrm>
          <a:prstGeom prst="rect">
            <a:avLst/>
          </a:prstGeom>
          <a:solidFill>
            <a:srgbClr val="23191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560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A8322A"/>
          </a:solidFill>
          <a:ln w="19050">
            <a:solidFill>
              <a:srgbClr val="8A281F"/>
            </a:solidFill>
            <a:prstDash val="solid"/>
          </a:ln>
          <a:effectLst>
            <a:outerShdw sx="100000" sy="100000" kx="0" ky="0" algn="bl" rotWithShape="0" blurRad="101600" dist="38100" dir="5400000">
              <a:srgbClr val="231914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201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CincySeniors.org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38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for Greater Cincinnati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D8C9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784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CINCYSENIORS.ORG  ·  (513) 555-0123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784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051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325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colors, fonts, and usage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1691640" cy="914400"/>
          </a:xfrm>
          <a:prstGeom prst="rect">
            <a:avLst/>
          </a:prstGeom>
          <a:solidFill>
            <a:srgbClr val="FBF7F1"/>
          </a:solidFill>
          <a:ln w="25400">
            <a:solidFill>
              <a:srgbClr val="231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off-white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#FBF7F1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758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C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286000"/>
            <a:ext cx="1691640" cy="914400"/>
          </a:xfrm>
          <a:prstGeom prst="rect">
            <a:avLst/>
          </a:prstGeom>
          <a:solidFill>
            <a:srgbClr val="F1EADC"/>
          </a:solidFill>
          <a:ln w="25400">
            <a:solidFill>
              <a:srgbClr val="231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Ivory card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3474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#F1EADC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36758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C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/ panels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2286000"/>
            <a:ext cx="1691640" cy="914400"/>
          </a:xfrm>
          <a:prstGeom prst="rect">
            <a:avLst/>
          </a:prstGeom>
          <a:solidFill>
            <a:srgbClr val="E7D9C0"/>
          </a:solidFill>
          <a:ln w="25400">
            <a:solidFill>
              <a:srgbClr val="2319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sand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06240" y="3474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#E7D9C0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6240" y="36758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C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bands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286000"/>
            <a:ext cx="1691640" cy="914400"/>
          </a:xfrm>
          <a:prstGeom prst="rect">
            <a:avLst/>
          </a:prstGeom>
          <a:solidFill>
            <a:srgbClr val="231914"/>
          </a:solidFill>
          <a:ln w="25400">
            <a:solidFill>
              <a:srgbClr val="2319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 espresso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35040" y="3474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#231914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36758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C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63840" y="2286000"/>
            <a:ext cx="1691640" cy="914400"/>
          </a:xfrm>
          <a:prstGeom prst="rect">
            <a:avLst/>
          </a:prstGeom>
          <a:solidFill>
            <a:srgbClr val="A8322A"/>
          </a:solidFill>
          <a:ln w="25400">
            <a:solidFill>
              <a:srgbClr val="2319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Cincinnati red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63840" y="3474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#A8322A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36758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C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accent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692640" y="2286000"/>
            <a:ext cx="1691640" cy="914400"/>
          </a:xfrm>
          <a:prstGeom prst="rect">
            <a:avLst/>
          </a:prstGeom>
          <a:solidFill>
            <a:srgbClr val="2E5C7E"/>
          </a:solidFill>
          <a:ln w="25400">
            <a:solidFill>
              <a:srgbClr val="2319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Ohio River blue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92640" y="3474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#2E5C7E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92640" y="36758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C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accent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297680"/>
            <a:ext cx="5486400" cy="2286000"/>
          </a:xfrm>
          <a:prstGeom prst="rect">
            <a:avLst/>
          </a:prstGeom>
          <a:solidFill>
            <a:srgbClr val="FFFBF3"/>
          </a:solidFill>
          <a:ln w="25400">
            <a:solidFill>
              <a:srgbClr val="2319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297680"/>
            <a:ext cx="73152" cy="2286000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434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" y="4709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3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77724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&amp; pull quotes — warm serif. Italic adds human accent.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3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77240" y="6126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copy — humanist sans, 14–17 pt, line height generous.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4297680"/>
            <a:ext cx="5486400" cy="2286000"/>
          </a:xfrm>
          <a:prstGeom prst="rect">
            <a:avLst/>
          </a:prstGeom>
          <a:solidFill>
            <a:srgbClr val="231914"/>
          </a:solidFill>
          <a:ln/>
        </p:spPr>
      </p:sp>
      <p:sp>
        <p:nvSpPr>
          <p:cNvPr id="47" name="Shape 45"/>
          <p:cNvSpPr/>
          <p:nvPr/>
        </p:nvSpPr>
        <p:spPr>
          <a:xfrm>
            <a:off x="6217920" y="4297680"/>
            <a:ext cx="73152" cy="2286000"/>
          </a:xfrm>
          <a:prstGeom prst="rect">
            <a:avLst/>
          </a:prstGeom>
          <a:solidFill>
            <a:srgbClr val="A8322A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4434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7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4652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B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 for every slide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446520" y="521208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 at 14 pt or larger. Senior audiences, always.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accent color per card — don't mix red and blue inside the same tile.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margins ≥ 0.5". Leave room to breathe.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CincySeniors.org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CincySeniors.org — Slide Template</dc:title>
  <dc:subject>Responsible AI for Cincinnati Seniors</dc:subject>
  <dc:creator>CincySeniors.org</dc:creator>
  <cp:lastModifiedBy>CincySeniors.org</cp:lastModifiedBy>
  <cp:revision>1</cp:revision>
  <dcterms:created xsi:type="dcterms:W3CDTF">2026-04-20T00:08:01Z</dcterms:created>
  <dcterms:modified xsi:type="dcterms:W3CDTF">2026-04-20T00:08:01Z</dcterms:modified>
</cp:coreProperties>
</file>